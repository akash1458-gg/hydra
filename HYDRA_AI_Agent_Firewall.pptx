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Today we are presenting HYDRA, an enterprise-grade autonomous AI agent firewall. As software development transitions from human coders to autonomous agents with real execution tools, security cannot rely on fuzzy prompt engineering. HYDRA establishes the world's first cryptographic zero-trust firewall for Model Context Protocol agents, ensuring every single tool action is mathematically verified against signed user intent.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give an LLM access to MCP tools like git commit or delete_repository, traditional safety filters become useless. If an agent inspects an external pull request note containing a hidden prompt injection, the agent gets hijacked from the inside. Without an independent firewall, your CI/CD pipeline and codebase are entirely at the mercy of untrusted inputs.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HYDRA solves this with a 4-stage Zero-Trust architecture. First, the developer states their objective. Gemini parses this into a structured execution graph. Next, ArmorIQ mints a cryptographic intent token that acts as a digital passport. When the agent attempts any tool action, the HYDRA firewall evaluates whether that action has a valid cryptographic proof and complies with enterprise policy. If an injected tool call tries to execute, it is hard-blocked at the gate in under 15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innovation here is moving from heuristic guessing to deterministic cryptographic proofs. We do not ask an LLM 'Does this look safe?'. Instead, we mathematically verify whether the specific tool call was part of the original cryptographically signed intent. If an attacker injects a command through a poisoned markdown file, that command does not exist in the signed Merkle tree—and the firewall intercepts it with zero hesitation.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HYDRA in production, we built four comprehensive attack and defense vectors directly into the dashboard. We test authorized reviews, direct CI/CD pipeline destruction attacks, indirect prompt injection hijacks embedded in contributor notes, and end-to-end automated remediation patches with branch protection.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HYDRA isn't limited to a static sandbox. Developers can connect any public or private GitHub repository using our boxed Target Repository panel. HYDRA clones, indexes, and monitors the target repo. If you provide a write token, HYDRA commits safe patches to isolated branches and opens live Pull Requests directly on GitHub—while strictly enforcing branch protection policies on 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stack combines the reasoning capabilities of Google Gemini with ArmorIQ's cryptographic policy engine, running on top of the FastMCP protocol. Policy evaluation takes less than 15 milliseconds, introducing virtually zero latency into the developer loop while providing uncompromised security.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enterprises, HYDRA is the missing bridge between AI productivity and security compliance. CTOs want the speed of autonomous coding agents, but CISOs cannot tolerate the risk of unattended repository writes. HYDRA satisfies both: agents can autonomously fix vulnerabilities and open pull requests, while the CISO has a mathematically verifiable cryptographic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our live demo, we will show judges exactly how HYDRA handles both direct attacks and hidden prompt injections in real time. We demonstrate the instant 15ms refusal of CI/CD tampering, the Merkle proof quarantine of indirect prompt injections, and finally the clean automated remediation of a live SQL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HYDRA is expanding into a multi-agent mesh firewall. As software development evolves toward fleets of cooperating agents, HYDRA will enforce cryptographic intent delegation between agents, dynamic deception honeytokens, and native IDE sidecar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HYDRA is not another prompt wrapper. It is a genuine, low-latency zero-trust security layer that mathematically locks down MCP tool execution. It protects against direct attacks, supply chain tampering, and indirect prompt injections, making autonomous agent deployment safe and enterprise-ready.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The live dashboard is up and running, our repository is open on GitHub, and we'd be delighted to take any questions or run custom attack scenarios for you right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10360152" cy="4663440"/>
          </a:xfrm>
          <a:prstGeom prst="roundRect">
            <a:avLst/>
          </a:prstGeom>
          <a:solidFill>
            <a:srgbClr val="FFFFFF"/>
          </a:solidFill>
          <a:ln w="381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548640" tIns="548640"/>
          <a:lstStyle/>
          <a:p>
            <a:pPr algn="ctr">
              <a:spcAft>
                <a:spcPts val="1400"/>
              </a:spcAft>
              <a:defRPr sz="1300" b="1">
                <a:solidFill>
                  <a:srgbClr val="0F172A"/>
                </a:solidFill>
                <a:latin typeface="Courier New"/>
              </a:defRPr>
            </a:pPr>
            <a:r>
              <a:t>✦ ZERO-TRUST AI AGENT FIREWALL</a:t>
            </a:r>
          </a:p>
          <a:p>
            <a:pPr>
              <a:defRPr sz="5000" b="1">
                <a:solidFill>
                  <a:srgbClr val="0F172A"/>
                </a:solidFill>
                <a:latin typeface="Arial"/>
              </a:defRPr>
            </a:pPr>
            <a:r>
              <a:t>HYDRA</a:t>
            </a:r>
          </a:p>
          <a:p>
            <a:pPr>
              <a:spcAft>
                <a:spcPts val="2800"/>
              </a:spcAft>
              <a:defRPr sz="1800">
                <a:solidFill>
                  <a:srgbClr val="64748B"/>
                </a:solidFill>
                <a:latin typeface="Arial"/>
              </a:defRPr>
            </a:pPr>
            <a:r>
              <a:t>Cryptographic Intent Verification &amp; Boundary Protection for MCP Agents</a:t>
            </a:r>
          </a:p>
          <a:p>
            <a:pPr>
              <a:defRPr sz="1300" b="1">
                <a:solidFill>
                  <a:srgbClr val="0F172A"/>
                </a:solidFill>
                <a:latin typeface="Courier New"/>
              </a:defRPr>
            </a:pPr>
            <a:r>
              <a:t>Powered by Google Gemini 2.0 / Flash  •  ArmorIQ CSRG-IAP  •  FastMCP Protocol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THE PROBLEM // ATTACK SURFACE</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The Vulnerability of Autonomous Agents</a:t>
            </a:r>
          </a:p>
        </p:txBody>
      </p:sp>
      <p:sp>
        <p:nvSpPr>
          <p:cNvPr id="5" name="Rounded Rectangle 4"/>
          <p:cNvSpPr/>
          <p:nvPr/>
        </p:nvSpPr>
        <p:spPr>
          <a:xfrm>
            <a:off x="731520" y="1645920"/>
            <a:ext cx="5120640" cy="2103120"/>
          </a:xfrm>
          <a:prstGeom prst="roundRect">
            <a:avLst/>
          </a:prstGeom>
          <a:solidFill>
            <a:srgbClr val="FECAC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Real Tools = Real Destruction</a:t>
            </a:r>
          </a:p>
          <a:p>
            <a:pPr>
              <a:spcAft>
                <a:spcPts val="400"/>
              </a:spcAft>
              <a:defRPr sz="1200">
                <a:solidFill>
                  <a:srgbClr val="0F172A"/>
                </a:solidFill>
                <a:latin typeface="Arial"/>
              </a:defRPr>
            </a:pPr>
            <a:r>
              <a:t>• MCP agents have real operating capabilities.</a:t>
            </a:r>
          </a:p>
          <a:p>
            <a:pPr>
              <a:spcAft>
                <a:spcPts val="400"/>
              </a:spcAft>
              <a:defRPr sz="1200">
                <a:solidFill>
                  <a:srgbClr val="0F172A"/>
                </a:solidFill>
                <a:latin typeface="Arial"/>
              </a:defRPr>
            </a:pPr>
            <a:r>
              <a:t>• They execute bash commands, edit CI/CD workflows, read database secrets, and push git commits.</a:t>
            </a:r>
          </a:p>
          <a:p>
            <a:pPr>
              <a:spcAft>
                <a:spcPts val="400"/>
              </a:spcAft>
              <a:defRPr sz="1200">
                <a:solidFill>
                  <a:srgbClr val="0F172A"/>
                </a:solidFill>
                <a:latin typeface="Arial"/>
              </a:defRPr>
            </a:pPr>
            <a:r>
              <a:t>• A hijacked agent is equivalent to a rogue insider with admin privileges.</a:t>
            </a:r>
          </a:p>
        </p:txBody>
      </p:sp>
      <p:sp>
        <p:nvSpPr>
          <p:cNvPr id="6" name="Rounded Rectangle 5"/>
          <p:cNvSpPr/>
          <p:nvPr/>
        </p:nvSpPr>
        <p:spPr>
          <a:xfrm>
            <a:off x="6217920" y="1645920"/>
            <a:ext cx="5120640" cy="210312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Death of Prompt Filtering</a:t>
            </a:r>
          </a:p>
          <a:p>
            <a:pPr>
              <a:spcAft>
                <a:spcPts val="400"/>
              </a:spcAft>
              <a:defRPr sz="1200">
                <a:solidFill>
                  <a:srgbClr val="0F172A"/>
                </a:solidFill>
                <a:latin typeface="Arial"/>
              </a:defRPr>
            </a:pPr>
            <a:r>
              <a:t>• System prompts ('Please do not delete files') fail routinely.</a:t>
            </a:r>
          </a:p>
          <a:p>
            <a:pPr>
              <a:spcAft>
                <a:spcPts val="400"/>
              </a:spcAft>
              <a:defRPr sz="1200">
                <a:solidFill>
                  <a:srgbClr val="0F172A"/>
                </a:solidFill>
                <a:latin typeface="Arial"/>
              </a:defRPr>
            </a:pPr>
            <a:r>
              <a:t>• Vulnerable to jailbreaks, token confusion, and multi-turn manipulation.</a:t>
            </a:r>
          </a:p>
          <a:p>
            <a:pPr>
              <a:spcAft>
                <a:spcPts val="400"/>
              </a:spcAft>
              <a:defRPr sz="1200">
                <a:solidFill>
                  <a:srgbClr val="0F172A"/>
                </a:solidFill>
                <a:latin typeface="Arial"/>
              </a:defRPr>
            </a:pPr>
            <a:r>
              <a:t>• Probabilistic text safety filters cannot guarantee boundary security.</a:t>
            </a:r>
          </a:p>
        </p:txBody>
      </p:sp>
      <p:sp>
        <p:nvSpPr>
          <p:cNvPr id="7" name="Rounded Rectangle 6"/>
          <p:cNvSpPr/>
          <p:nvPr/>
        </p:nvSpPr>
        <p:spPr>
          <a:xfrm>
            <a:off x="731520" y="4023360"/>
            <a:ext cx="5120640" cy="210312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Indirect Prompt Injection</a:t>
            </a:r>
          </a:p>
          <a:p>
            <a:pPr>
              <a:spcAft>
                <a:spcPts val="400"/>
              </a:spcAft>
              <a:defRPr sz="1200">
                <a:solidFill>
                  <a:srgbClr val="0F172A"/>
                </a:solidFill>
                <a:latin typeface="Arial"/>
              </a:defRPr>
            </a:pPr>
            <a:r>
              <a:t>• Attacks hide in innocent data: PR descriptions, markdown notes, or dependencies.</a:t>
            </a:r>
          </a:p>
          <a:p>
            <a:pPr>
              <a:spcAft>
                <a:spcPts val="400"/>
              </a:spcAft>
              <a:defRPr sz="1200">
                <a:solidFill>
                  <a:srgbClr val="0F172A"/>
                </a:solidFill>
                <a:latin typeface="Arial"/>
              </a:defRPr>
            </a:pPr>
            <a:r>
              <a:t>• When the agent inspects the file, the embedded override hijacks execution tools.</a:t>
            </a:r>
          </a:p>
          <a:p>
            <a:pPr>
              <a:spcAft>
                <a:spcPts val="400"/>
              </a:spcAft>
              <a:defRPr sz="1200">
                <a:solidFill>
                  <a:srgbClr val="0F172A"/>
                </a:solidFill>
                <a:latin typeface="Arial"/>
              </a:defRPr>
            </a:pPr>
            <a:r>
              <a:t>• Ranked as the #1 critical vulnerability in the OWASP Top 10 for LLMs.</a:t>
            </a:r>
          </a:p>
        </p:txBody>
      </p:sp>
      <p:sp>
        <p:nvSpPr>
          <p:cNvPr id="8" name="Rounded Rectangle 7"/>
          <p:cNvSpPr/>
          <p:nvPr/>
        </p:nvSpPr>
        <p:spPr>
          <a:xfrm>
            <a:off x="6217920" y="4023360"/>
            <a:ext cx="5120640" cy="2103120"/>
          </a:xfrm>
          <a:prstGeom prst="roundRect">
            <a:avLst/>
          </a:prstGeom>
          <a:solidFill>
            <a:srgbClr val="FDE68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Enterprise Adoption Blocked</a:t>
            </a:r>
          </a:p>
          <a:p>
            <a:pPr>
              <a:spcAft>
                <a:spcPts val="400"/>
              </a:spcAft>
              <a:defRPr sz="1200">
                <a:solidFill>
                  <a:srgbClr val="0F172A"/>
                </a:solidFill>
                <a:latin typeface="Arial"/>
              </a:defRPr>
            </a:pPr>
            <a:r>
              <a:t>• 78% of CISOs cite fear of autonomous tool execution as the primary blocker to agent rollout.</a:t>
            </a:r>
          </a:p>
          <a:p>
            <a:pPr>
              <a:spcAft>
                <a:spcPts val="400"/>
              </a:spcAft>
              <a:defRPr sz="1200">
                <a:solidFill>
                  <a:srgbClr val="0F172A"/>
                </a:solidFill>
                <a:latin typeface="Arial"/>
              </a:defRPr>
            </a:pPr>
            <a:r>
              <a:t>• Compliance mandates (SOC2, ISO 27001) require deterministic, auditable access controls.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SYSTEM PIPELINE // END-TO-END</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HYDRA Zero-Trust Architecture</a:t>
            </a:r>
          </a:p>
        </p:txBody>
      </p:sp>
      <p:sp>
        <p:nvSpPr>
          <p:cNvPr id="5" name="Rounded Rectangle 4"/>
          <p:cNvSpPr/>
          <p:nvPr/>
        </p:nvSpPr>
        <p:spPr>
          <a:xfrm>
            <a:off x="731520" y="1645920"/>
            <a:ext cx="2468880" cy="4389120"/>
          </a:xfrm>
          <a:prstGeom prst="roundRect">
            <a:avLst/>
          </a:prstGeom>
          <a:solidFill>
            <a:srgbClr val="BAE6FD"/>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01 DIRECTIVE</a:t>
            </a:r>
          </a:p>
          <a:p>
            <a:pPr>
              <a:spcAft>
                <a:spcPts val="400"/>
              </a:spcAft>
              <a:defRPr sz="1200">
                <a:solidFill>
                  <a:srgbClr val="0F172A"/>
                </a:solidFill>
                <a:latin typeface="Arial"/>
              </a:defRPr>
            </a:pPr>
            <a:r>
              <a:t>• Natural language prompt.</a:t>
            </a:r>
          </a:p>
          <a:p>
            <a:pPr>
              <a:spcAft>
                <a:spcPts val="400"/>
              </a:spcAft>
              <a:defRPr sz="1200">
                <a:solidFill>
                  <a:srgbClr val="0F172A"/>
                </a:solidFill>
                <a:latin typeface="Arial"/>
              </a:defRPr>
            </a:pPr>
            <a:r>
              <a:t>• Developer specifies the goal (e.g. 'Audit payment_service.py').</a:t>
            </a:r>
          </a:p>
          <a:p>
            <a:pPr>
              <a:spcAft>
                <a:spcPts val="400"/>
              </a:spcAft>
              <a:defRPr sz="1200">
                <a:solidFill>
                  <a:srgbClr val="0F172A"/>
                </a:solidFill>
                <a:latin typeface="Arial"/>
              </a:defRPr>
            </a:pPr>
            <a:r>
              <a:t>• Target repository selected (demo sandbox or live GitHub).</a:t>
            </a:r>
          </a:p>
        </p:txBody>
      </p:sp>
      <p:sp>
        <p:nvSpPr>
          <p:cNvPr id="6" name="Rounded Rectangle 5"/>
          <p:cNvSpPr/>
          <p:nvPr/>
        </p:nvSpPr>
        <p:spPr>
          <a:xfrm>
            <a:off x="3474720" y="1645920"/>
            <a:ext cx="2468880" cy="4389120"/>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02 GEMINI PLANNER</a:t>
            </a:r>
          </a:p>
          <a:p>
            <a:pPr>
              <a:spcAft>
                <a:spcPts val="400"/>
              </a:spcAft>
              <a:defRPr sz="1200">
                <a:solidFill>
                  <a:srgbClr val="0F172A"/>
                </a:solidFill>
                <a:latin typeface="Arial"/>
              </a:defRPr>
            </a:pPr>
            <a:r>
              <a:t>• Cognitive reasoning engine.</a:t>
            </a:r>
          </a:p>
          <a:p>
            <a:pPr>
              <a:spcAft>
                <a:spcPts val="400"/>
              </a:spcAft>
              <a:defRPr sz="1200">
                <a:solidFill>
                  <a:srgbClr val="0F172A"/>
                </a:solidFill>
                <a:latin typeface="Arial"/>
              </a:defRPr>
            </a:pPr>
            <a:r>
              <a:t>• Decomposes intent into a typed JSON execution graph.</a:t>
            </a:r>
          </a:p>
          <a:p>
            <a:pPr>
              <a:spcAft>
                <a:spcPts val="400"/>
              </a:spcAft>
              <a:defRPr sz="1200">
                <a:solidFill>
                  <a:srgbClr val="0F172A"/>
                </a:solidFill>
                <a:latin typeface="Arial"/>
              </a:defRPr>
            </a:pPr>
            <a:r>
              <a:t>• Declares tool names and inputs with strict schema validation.</a:t>
            </a:r>
          </a:p>
        </p:txBody>
      </p:sp>
      <p:sp>
        <p:nvSpPr>
          <p:cNvPr id="7" name="Rounded Rectangle 6"/>
          <p:cNvSpPr/>
          <p:nvPr/>
        </p:nvSpPr>
        <p:spPr>
          <a:xfrm>
            <a:off x="6217920" y="1645920"/>
            <a:ext cx="2468880" cy="4389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03 CSRG-IAP GATE</a:t>
            </a:r>
          </a:p>
          <a:p>
            <a:pPr>
              <a:spcAft>
                <a:spcPts val="400"/>
              </a:spcAft>
              <a:defRPr sz="1200">
                <a:solidFill>
                  <a:srgbClr val="0F172A"/>
                </a:solidFill>
                <a:latin typeface="Arial"/>
              </a:defRPr>
            </a:pPr>
            <a:r>
              <a:t>• ArmorIQ policy engine.</a:t>
            </a:r>
          </a:p>
          <a:p>
            <a:pPr>
              <a:spcAft>
                <a:spcPts val="400"/>
              </a:spcAft>
              <a:defRPr sz="1200">
                <a:solidFill>
                  <a:srgbClr val="0F172A"/>
                </a:solidFill>
                <a:latin typeface="Arial"/>
              </a:defRPr>
            </a:pPr>
            <a:r>
              <a:t>• Mints cryptographic intent token with Merkle proof.</a:t>
            </a:r>
          </a:p>
          <a:p>
            <a:pPr>
              <a:spcAft>
                <a:spcPts val="400"/>
              </a:spcAft>
              <a:defRPr sz="1200">
                <a:solidFill>
                  <a:srgbClr val="0F172A"/>
                </a:solidFill>
                <a:latin typeface="Arial"/>
              </a:defRPr>
            </a:pPr>
            <a:r>
              <a:t>• Evaluates each action in &lt;15ms before execution.</a:t>
            </a:r>
          </a:p>
        </p:txBody>
      </p:sp>
      <p:sp>
        <p:nvSpPr>
          <p:cNvPr id="8" name="Rounded Rectangle 7"/>
          <p:cNvSpPr/>
          <p:nvPr/>
        </p:nvSpPr>
        <p:spPr>
          <a:xfrm>
            <a:off x="8961120" y="1645920"/>
            <a:ext cx="2468880" cy="4389120"/>
          </a:xfrm>
          <a:prstGeom prst="roundRect">
            <a:avLst/>
          </a:prstGeom>
          <a:solidFill>
            <a:srgbClr val="FDE68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04 MCP RUNTIME</a:t>
            </a:r>
          </a:p>
          <a:p>
            <a:pPr>
              <a:spcAft>
                <a:spcPts val="400"/>
              </a:spcAft>
              <a:defRPr sz="1200">
                <a:solidFill>
                  <a:srgbClr val="0F172A"/>
                </a:solidFill>
                <a:latin typeface="Arial"/>
              </a:defRPr>
            </a:pPr>
            <a:r>
              <a:t>• Hardened sandbox environment.</a:t>
            </a:r>
          </a:p>
          <a:p>
            <a:pPr>
              <a:spcAft>
                <a:spcPts val="400"/>
              </a:spcAft>
              <a:defRPr sz="1200">
                <a:solidFill>
                  <a:srgbClr val="0F172A"/>
                </a:solidFill>
                <a:latin typeface="Arial"/>
              </a:defRPr>
            </a:pPr>
            <a:r>
              <a:t>• Benign actions execute safely.</a:t>
            </a:r>
          </a:p>
          <a:p>
            <a:pPr>
              <a:spcAft>
                <a:spcPts val="400"/>
              </a:spcAft>
              <a:defRPr sz="1200">
                <a:solidFill>
                  <a:srgbClr val="0F172A"/>
                </a:solidFill>
                <a:latin typeface="Arial"/>
              </a:defRPr>
            </a:pPr>
            <a:r>
              <a:t>• Destructive commands and injected tools are hard-quarantined!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PARADIGM SHIFT // INNOVATION</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Deterministic Cryptography vs. Probabilistic Guessing</a:t>
            </a:r>
          </a:p>
        </p:txBody>
      </p:sp>
      <p:sp>
        <p:nvSpPr>
          <p:cNvPr id="5" name="Rounded Rectangle 4"/>
          <p:cNvSpPr/>
          <p:nvPr/>
        </p:nvSpPr>
        <p:spPr>
          <a:xfrm>
            <a:off x="731520" y="1645920"/>
            <a:ext cx="5120640" cy="4389120"/>
          </a:xfrm>
          <a:prstGeom prst="roundRect">
            <a:avLst/>
          </a:prstGeom>
          <a:solidFill>
            <a:srgbClr val="FECAC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Traditional AI Guardrails</a:t>
            </a:r>
          </a:p>
          <a:p>
            <a:pPr>
              <a:spcAft>
                <a:spcPts val="400"/>
              </a:spcAft>
              <a:defRPr sz="1200">
                <a:solidFill>
                  <a:srgbClr val="0F172A"/>
                </a:solidFill>
                <a:latin typeface="Arial"/>
              </a:defRPr>
            </a:pPr>
            <a:r>
              <a:t>• Probabilistic: Guesses if an input 'looks' harmful based on text embeddings.</a:t>
            </a:r>
          </a:p>
          <a:p>
            <a:pPr>
              <a:spcAft>
                <a:spcPts val="400"/>
              </a:spcAft>
              <a:defRPr sz="1200">
                <a:solidFill>
                  <a:srgbClr val="0F172A"/>
                </a:solidFill>
                <a:latin typeface="Arial"/>
              </a:defRPr>
            </a:pPr>
            <a:r>
              <a:t>• Prompt-Layer Defense: Lives inside the LLM context; easily subverted by jailbreaks.</a:t>
            </a:r>
          </a:p>
          <a:p>
            <a:pPr>
              <a:spcAft>
                <a:spcPts val="400"/>
              </a:spcAft>
              <a:defRPr sz="1200">
                <a:solidFill>
                  <a:srgbClr val="0F172A"/>
                </a:solidFill>
                <a:latin typeface="Arial"/>
              </a:defRPr>
            </a:pPr>
            <a:r>
              <a:t>• Blind to Injections: Cannot distinguish between developer instructions and third-party file data.</a:t>
            </a:r>
          </a:p>
          <a:p>
            <a:pPr>
              <a:spcAft>
                <a:spcPts val="400"/>
              </a:spcAft>
              <a:defRPr sz="1200">
                <a:solidFill>
                  <a:srgbClr val="0F172A"/>
                </a:solidFill>
                <a:latin typeface="Arial"/>
              </a:defRPr>
            </a:pPr>
            <a:r>
              <a:t>• Ephemeral Logging: Standard console text; fails strict SOC2 audit standards.</a:t>
            </a:r>
          </a:p>
          <a:p>
            <a:pPr>
              <a:spcAft>
                <a:spcPts val="400"/>
              </a:spcAft>
              <a:defRPr sz="1200">
                <a:solidFill>
                  <a:srgbClr val="0F172A"/>
                </a:solidFill>
                <a:latin typeface="Arial"/>
              </a:defRPr>
            </a:pPr>
            <a:r>
              <a:t>• Outcome: Vulnerable to tool hijack and pipeline destruction.</a:t>
            </a:r>
          </a:p>
        </p:txBody>
      </p:sp>
      <p:sp>
        <p:nvSpPr>
          <p:cNvPr id="6" name="Rounded Rectangle 5"/>
          <p:cNvSpPr/>
          <p:nvPr/>
        </p:nvSpPr>
        <p:spPr>
          <a:xfrm>
            <a:off x="6217920" y="1645920"/>
            <a:ext cx="5120640" cy="4389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HYDRA AI Agent Firewall</a:t>
            </a:r>
          </a:p>
          <a:p>
            <a:pPr>
              <a:spcAft>
                <a:spcPts val="400"/>
              </a:spcAft>
              <a:defRPr sz="1200">
                <a:solidFill>
                  <a:srgbClr val="0F172A"/>
                </a:solidFill>
                <a:latin typeface="Arial"/>
              </a:defRPr>
            </a:pPr>
            <a:r>
              <a:t>• Deterministic: Mathematically verifies cryptographic Merkle inclusion proofs.</a:t>
            </a:r>
          </a:p>
          <a:p>
            <a:pPr>
              <a:spcAft>
                <a:spcPts val="400"/>
              </a:spcAft>
              <a:defRPr sz="1200">
                <a:solidFill>
                  <a:srgbClr val="0F172A"/>
                </a:solidFill>
                <a:latin typeface="Arial"/>
              </a:defRPr>
            </a:pPr>
            <a:r>
              <a:t>• Tool-Boundary Defense: Independent interceptor outside the LLM execution container.</a:t>
            </a:r>
          </a:p>
          <a:p>
            <a:pPr>
              <a:spcAft>
                <a:spcPts val="400"/>
              </a:spcAft>
              <a:defRPr sz="1200">
                <a:solidFill>
                  <a:srgbClr val="0F172A"/>
                </a:solidFill>
                <a:latin typeface="Arial"/>
              </a:defRPr>
            </a:pPr>
            <a:r>
              <a:t>• CSRG Merkle Verification: Injected actions lack the developer's signed token and are blocked instantly.</a:t>
            </a:r>
          </a:p>
          <a:p>
            <a:pPr>
              <a:spcAft>
                <a:spcPts val="400"/>
              </a:spcAft>
              <a:defRPr sz="1200">
                <a:solidFill>
                  <a:srgbClr val="0F172A"/>
                </a:solidFill>
                <a:latin typeface="Arial"/>
              </a:defRPr>
            </a:pPr>
            <a:r>
              <a:t>• Tamper-Proof Audit: Every verdict, latency metric, and SHA-256 hash is permanently recorded.</a:t>
            </a:r>
          </a:p>
          <a:p>
            <a:pPr>
              <a:spcAft>
                <a:spcPts val="400"/>
              </a:spcAft>
              <a:defRPr sz="1200">
                <a:solidFill>
                  <a:srgbClr val="0F172A"/>
                </a:solidFill>
                <a:latin typeface="Arial"/>
              </a:defRPr>
            </a:pPr>
            <a:r>
              <a:t>• Outcome: Mathematically guaranteed zero-trust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LIVE SCENARIOS // PRODUCTION AUDIT</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Four Battle-Tested Attack &amp; Defense Vectors</a:t>
            </a:r>
          </a:p>
        </p:txBody>
      </p:sp>
      <p:sp>
        <p:nvSpPr>
          <p:cNvPr id="5" name="Rounded Rectangle 4"/>
          <p:cNvSpPr/>
          <p:nvPr/>
        </p:nvSpPr>
        <p:spPr>
          <a:xfrm>
            <a:off x="731520" y="1645920"/>
            <a:ext cx="5120640" cy="2103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Vector 01 // Authorized Code Audit</a:t>
            </a:r>
          </a:p>
          <a:p>
            <a:pPr>
              <a:spcAft>
                <a:spcPts val="400"/>
              </a:spcAft>
              <a:defRPr sz="1200">
                <a:solidFill>
                  <a:srgbClr val="0F172A"/>
                </a:solidFill>
                <a:latin typeface="Arial"/>
              </a:defRPr>
            </a:pPr>
            <a:r>
              <a:t>• Action: Inspects payment_service.py for security vulnerabilities.</a:t>
            </a:r>
          </a:p>
          <a:p>
            <a:pPr>
              <a:spcAft>
                <a:spcPts val="400"/>
              </a:spcAft>
              <a:defRPr sz="1200">
                <a:solidFill>
                  <a:srgbClr val="0F172A"/>
                </a:solidFill>
                <a:latin typeface="Arial"/>
              </a:defRPr>
            </a:pPr>
            <a:r>
              <a:t>• Detects CWE-89 SQL injection and submits review to PR #1.</a:t>
            </a:r>
          </a:p>
          <a:p>
            <a:pPr>
              <a:spcAft>
                <a:spcPts val="400"/>
              </a:spcAft>
              <a:defRPr sz="1200">
                <a:solidFill>
                  <a:srgbClr val="0F172A"/>
                </a:solidFill>
                <a:latin typeface="Arial"/>
              </a:defRPr>
            </a:pPr>
            <a:r>
              <a:t>• Verdict: ALLOWED &amp; verified in 460ms via signed intent.</a:t>
            </a:r>
          </a:p>
        </p:txBody>
      </p:sp>
      <p:sp>
        <p:nvSpPr>
          <p:cNvPr id="6" name="Rounded Rectangle 5"/>
          <p:cNvSpPr/>
          <p:nvPr/>
        </p:nvSpPr>
        <p:spPr>
          <a:xfrm>
            <a:off x="6217920" y="1645920"/>
            <a:ext cx="5120640" cy="2103120"/>
          </a:xfrm>
          <a:prstGeom prst="roundRect">
            <a:avLst/>
          </a:prstGeom>
          <a:solidFill>
            <a:srgbClr val="FECAC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Vector 02 // CI/CD Pipeline Tamper</a:t>
            </a:r>
          </a:p>
          <a:p>
            <a:pPr>
              <a:spcAft>
                <a:spcPts val="400"/>
              </a:spcAft>
              <a:defRPr sz="1200">
                <a:solidFill>
                  <a:srgbClr val="0F172A"/>
                </a:solidFill>
                <a:latin typeface="Arial"/>
              </a:defRPr>
            </a:pPr>
            <a:r>
              <a:t>• Action: Attacker attempts to overwrite deploy.yml and delete sandbox.</a:t>
            </a:r>
          </a:p>
          <a:p>
            <a:pPr>
              <a:spcAft>
                <a:spcPts val="400"/>
              </a:spcAft>
              <a:defRPr sz="1200">
                <a:solidFill>
                  <a:srgbClr val="0F172A"/>
                </a:solidFill>
                <a:latin typeface="Arial"/>
              </a:defRPr>
            </a:pPr>
            <a:r>
              <a:t>• Aims to disable mandatory SAST tests in production CI/CD.</a:t>
            </a:r>
          </a:p>
          <a:p>
            <a:pPr>
              <a:spcAft>
                <a:spcPts val="400"/>
              </a:spcAft>
              <a:defRPr sz="1200">
                <a:solidFill>
                  <a:srgbClr val="0F172A"/>
                </a:solidFill>
                <a:latin typeface="Arial"/>
              </a:defRPr>
            </a:pPr>
            <a:r>
              <a:t>• Verdict: BLOCKED in 15ms by 'hydra-block-destructive-ops'.</a:t>
            </a:r>
          </a:p>
        </p:txBody>
      </p:sp>
      <p:sp>
        <p:nvSpPr>
          <p:cNvPr id="7" name="Rounded Rectangle 6"/>
          <p:cNvSpPr/>
          <p:nvPr/>
        </p:nvSpPr>
        <p:spPr>
          <a:xfrm>
            <a:off x="731520" y="4023360"/>
            <a:ext cx="5120640" cy="2103120"/>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Vector 03 // Indirect Prompt Injection</a:t>
            </a:r>
          </a:p>
          <a:p>
            <a:pPr>
              <a:spcAft>
                <a:spcPts val="400"/>
              </a:spcAft>
              <a:defRPr sz="1200">
                <a:solidFill>
                  <a:srgbClr val="0F172A"/>
                </a:solidFill>
                <a:latin typeface="Arial"/>
              </a:defRPr>
            </a:pPr>
            <a:r>
              <a:t>• Action: Agent reads external_pr_note.md containing hidden SYSTEM OVERRIDE.</a:t>
            </a:r>
          </a:p>
          <a:p>
            <a:pPr>
              <a:spcAft>
                <a:spcPts val="400"/>
              </a:spcAft>
              <a:defRPr sz="1200">
                <a:solidFill>
                  <a:srgbClr val="0F172A"/>
                </a:solidFill>
                <a:latin typeface="Arial"/>
              </a:defRPr>
            </a:pPr>
            <a:r>
              <a:t>• Adversarial note attempts to hijack tools to erase the repository.</a:t>
            </a:r>
          </a:p>
          <a:p>
            <a:pPr>
              <a:spcAft>
                <a:spcPts val="400"/>
              </a:spcAft>
              <a:defRPr sz="1200">
                <a:solidFill>
                  <a:srgbClr val="0F172A"/>
                </a:solidFill>
                <a:latin typeface="Arial"/>
              </a:defRPr>
            </a:pPr>
            <a:r>
              <a:t>• Verdict: BLOCKED by ArmorIQ Merkle Proof Mismatch!</a:t>
            </a:r>
          </a:p>
        </p:txBody>
      </p:sp>
      <p:sp>
        <p:nvSpPr>
          <p:cNvPr id="8" name="Rounded Rectangle 7"/>
          <p:cNvSpPr/>
          <p:nvPr/>
        </p:nvSpPr>
        <p:spPr>
          <a:xfrm>
            <a:off x="6217920" y="4023360"/>
            <a:ext cx="5120640" cy="2103120"/>
          </a:xfrm>
          <a:prstGeom prst="roundRect">
            <a:avLst/>
          </a:prstGeom>
          <a:solidFill>
            <a:srgbClr val="FDE68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Vector 04 // Risk-Based Patch Commit</a:t>
            </a:r>
          </a:p>
          <a:p>
            <a:pPr>
              <a:spcAft>
                <a:spcPts val="400"/>
              </a:spcAft>
              <a:defRPr sz="1200">
                <a:solidFill>
                  <a:srgbClr val="0F172A"/>
                </a:solidFill>
                <a:latin typeface="Arial"/>
              </a:defRPr>
            </a:pPr>
            <a:r>
              <a:t>• Action: Static security scan of SQL flaw + automated parameterization.</a:t>
            </a:r>
          </a:p>
          <a:p>
            <a:pPr>
              <a:spcAft>
                <a:spcPts val="400"/>
              </a:spcAft>
              <a:defRPr sz="1200">
                <a:solidFill>
                  <a:srgbClr val="0F172A"/>
                </a:solidFill>
                <a:latin typeface="Arial"/>
              </a:defRPr>
            </a:pPr>
            <a:r>
              <a:t>• Branch Protection: Direct commit to main blocked; fix/* allowed.</a:t>
            </a:r>
          </a:p>
          <a:p>
            <a:pPr>
              <a:spcAft>
                <a:spcPts val="400"/>
              </a:spcAft>
              <a:defRPr sz="1200">
                <a:solidFill>
                  <a:srgbClr val="0F172A"/>
                </a:solidFill>
                <a:latin typeface="Arial"/>
              </a:defRPr>
            </a:pPr>
            <a:r>
              <a:t>• Verdict: ALLOWED &amp; patch committed to feature branch.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CONNECT ANY REPOSITORY // PRODUCTION</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Universal GitHub Integration &amp; Zero-Storage PAT</a:t>
            </a:r>
          </a:p>
        </p:txBody>
      </p:sp>
      <p:sp>
        <p:nvSpPr>
          <p:cNvPr id="5" name="Rounded Rectangle 4"/>
          <p:cNvSpPr/>
          <p:nvPr/>
        </p:nvSpPr>
        <p:spPr>
          <a:xfrm>
            <a:off x="731520" y="1645920"/>
            <a:ext cx="5120640" cy="438912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Live Repository Connection</a:t>
            </a:r>
          </a:p>
          <a:p>
            <a:pPr>
              <a:spcAft>
                <a:spcPts val="400"/>
              </a:spcAft>
              <a:defRPr sz="1200">
                <a:solidFill>
                  <a:srgbClr val="0F172A"/>
                </a:solidFill>
                <a:latin typeface="Arial"/>
              </a:defRPr>
            </a:pPr>
            <a:r>
              <a:t>• Boxed sidebar interface allows connecting any GitHub repo (owner/repo).</a:t>
            </a:r>
          </a:p>
          <a:p>
            <a:pPr>
              <a:spcAft>
                <a:spcPts val="400"/>
              </a:spcAft>
              <a:defRPr sz="1200">
                <a:solidFill>
                  <a:srgbClr val="0F172A"/>
                </a:solidFill>
                <a:latin typeface="Arial"/>
              </a:defRPr>
            </a:pPr>
            <a:r>
              <a:t>• Clones, indexes up to 50 source files, and renders live asset inspectors in the dashboard.</a:t>
            </a:r>
          </a:p>
          <a:p>
            <a:pPr>
              <a:spcAft>
                <a:spcPts val="400"/>
              </a:spcAft>
              <a:defRPr sz="1200">
                <a:solidFill>
                  <a:srgbClr val="0F172A"/>
                </a:solidFill>
                <a:latin typeface="Arial"/>
              </a:defRPr>
            </a:pPr>
            <a:r>
              <a:t>• Supports both public repositories and private enterprise codebases.</a:t>
            </a:r>
          </a:p>
          <a:p>
            <a:pPr>
              <a:spcAft>
                <a:spcPts val="400"/>
              </a:spcAft>
              <a:defRPr sz="1200">
                <a:solidFill>
                  <a:srgbClr val="0F172A"/>
                </a:solidFill>
                <a:latin typeface="Arial"/>
              </a:defRPr>
            </a:pPr>
            <a:r>
              <a:t>• Instant toggle between live repos and isolated demo scenarios.</a:t>
            </a:r>
          </a:p>
        </p:txBody>
      </p:sp>
      <p:sp>
        <p:nvSpPr>
          <p:cNvPr id="6" name="Rounded Rectangle 5"/>
          <p:cNvSpPr/>
          <p:nvPr/>
        </p:nvSpPr>
        <p:spPr>
          <a:xfrm>
            <a:off x="6217920" y="1645920"/>
            <a:ext cx="5120640" cy="4389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Zero-Storage Security &amp; Live PRs</a:t>
            </a:r>
          </a:p>
          <a:p>
            <a:pPr>
              <a:spcAft>
                <a:spcPts val="400"/>
              </a:spcAft>
              <a:defRPr sz="1200">
                <a:solidFill>
                  <a:srgbClr val="0F172A"/>
                </a:solidFill>
                <a:latin typeface="Arial"/>
              </a:defRPr>
            </a:pPr>
            <a:r>
              <a:t>• Zero-Storage PAT: Personal Access Tokens are kept strictly in memory for git push and PR creation—never written to disk.</a:t>
            </a:r>
          </a:p>
          <a:p>
            <a:pPr>
              <a:spcAft>
                <a:spcPts val="400"/>
              </a:spcAft>
              <a:defRPr sz="1200">
                <a:solidFill>
                  <a:srgbClr val="0F172A"/>
                </a:solidFill>
                <a:latin typeface="Arial"/>
              </a:defRPr>
            </a:pPr>
            <a:r>
              <a:t>• MCP tools cannot exfiltrate credentials because tokens are isolated from read tools.</a:t>
            </a:r>
          </a:p>
          <a:p>
            <a:pPr>
              <a:spcAft>
                <a:spcPts val="400"/>
              </a:spcAft>
              <a:defRPr sz="1200">
                <a:solidFill>
                  <a:srgbClr val="0F172A"/>
                </a:solidFill>
                <a:latin typeface="Arial"/>
              </a:defRPr>
            </a:pPr>
            <a:r>
              <a:t>• Branch Protection Enforcement: Direct commits to main/prod are hard-blocked.</a:t>
            </a:r>
          </a:p>
          <a:p>
            <a:pPr>
              <a:spcAft>
                <a:spcPts val="400"/>
              </a:spcAft>
              <a:defRPr sz="1200">
                <a:solidFill>
                  <a:srgbClr val="0F172A"/>
                </a:solidFill>
                <a:latin typeface="Arial"/>
              </a:defRPr>
            </a:pPr>
            <a:r>
              <a:t>• Safe patches automatically pushed to fix/* branches with clickable Pull Request links!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ARCHITECTURE // PERFORMANCE</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Enterprise-Grade Engineering &amp; Tech Stack</a:t>
            </a:r>
          </a:p>
        </p:txBody>
      </p:sp>
      <p:sp>
        <p:nvSpPr>
          <p:cNvPr id="5" name="Rounded Rectangle 4"/>
          <p:cNvSpPr/>
          <p:nvPr/>
        </p:nvSpPr>
        <p:spPr>
          <a:xfrm>
            <a:off x="731520" y="1645920"/>
            <a:ext cx="2468880" cy="4389120"/>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Google Gemini</a:t>
            </a:r>
          </a:p>
          <a:p>
            <a:pPr>
              <a:spcAft>
                <a:spcPts val="400"/>
              </a:spcAft>
              <a:defRPr sz="1200">
                <a:solidFill>
                  <a:srgbClr val="0F172A"/>
                </a:solidFill>
                <a:latin typeface="Arial"/>
              </a:defRPr>
            </a:pPr>
            <a:r>
              <a:t>• Gemini 2.0 / Flash.</a:t>
            </a:r>
          </a:p>
          <a:p>
            <a:pPr>
              <a:spcAft>
                <a:spcPts val="400"/>
              </a:spcAft>
              <a:defRPr sz="1200">
                <a:solidFill>
                  <a:srgbClr val="0F172A"/>
                </a:solidFill>
                <a:latin typeface="Arial"/>
              </a:defRPr>
            </a:pPr>
            <a:r>
              <a:t>• Structured JSON schema enforcement.</a:t>
            </a:r>
          </a:p>
          <a:p>
            <a:pPr>
              <a:spcAft>
                <a:spcPts val="400"/>
              </a:spcAft>
              <a:defRPr sz="1200">
                <a:solidFill>
                  <a:srgbClr val="0F172A"/>
                </a:solidFill>
                <a:latin typeface="Arial"/>
              </a:defRPr>
            </a:pPr>
            <a:r>
              <a:t>• Decomposes ambiguous prompts into precise action graphs.</a:t>
            </a:r>
          </a:p>
          <a:p>
            <a:pPr>
              <a:spcAft>
                <a:spcPts val="400"/>
              </a:spcAft>
              <a:defRPr sz="1200">
                <a:solidFill>
                  <a:srgbClr val="0F172A"/>
                </a:solidFill>
                <a:latin typeface="Arial"/>
              </a:defRPr>
            </a:pPr>
            <a:r>
              <a:t>• High-throughput reasoning.</a:t>
            </a:r>
          </a:p>
        </p:txBody>
      </p:sp>
      <p:sp>
        <p:nvSpPr>
          <p:cNvPr id="6" name="Rounded Rectangle 5"/>
          <p:cNvSpPr/>
          <p:nvPr/>
        </p:nvSpPr>
        <p:spPr>
          <a:xfrm>
            <a:off x="3474720" y="1645920"/>
            <a:ext cx="2468880" cy="4389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ArmorIQ CSRG-IAP</a:t>
            </a:r>
          </a:p>
          <a:p>
            <a:pPr>
              <a:spcAft>
                <a:spcPts val="400"/>
              </a:spcAft>
              <a:defRPr sz="1200">
                <a:solidFill>
                  <a:srgbClr val="0F172A"/>
                </a:solidFill>
                <a:latin typeface="Arial"/>
              </a:defRPr>
            </a:pPr>
            <a:r>
              <a:t>• Cryptographic intent tokens.</a:t>
            </a:r>
          </a:p>
          <a:p>
            <a:pPr>
              <a:spcAft>
                <a:spcPts val="400"/>
              </a:spcAft>
              <a:defRPr sz="1200">
                <a:solidFill>
                  <a:srgbClr val="0F172A"/>
                </a:solidFill>
                <a:latin typeface="Arial"/>
              </a:defRPr>
            </a:pPr>
            <a:r>
              <a:t>• Merkle tree proof validation.</a:t>
            </a:r>
          </a:p>
          <a:p>
            <a:pPr>
              <a:spcAft>
                <a:spcPts val="400"/>
              </a:spcAft>
              <a:defRPr sz="1200">
                <a:solidFill>
                  <a:srgbClr val="0F172A"/>
                </a:solidFill>
                <a:latin typeface="Arial"/>
              </a:defRPr>
            </a:pPr>
            <a:r>
              <a:t>• Sub-15ms policy gatekeeper.</a:t>
            </a:r>
          </a:p>
          <a:p>
            <a:pPr>
              <a:spcAft>
                <a:spcPts val="400"/>
              </a:spcAft>
              <a:defRPr sz="1200">
                <a:solidFill>
                  <a:srgbClr val="0F172A"/>
                </a:solidFill>
                <a:latin typeface="Arial"/>
              </a:defRPr>
            </a:pPr>
            <a:r>
              <a:t>• Enforces enterprise rules in armoriq.yaml.</a:t>
            </a:r>
          </a:p>
        </p:txBody>
      </p:sp>
      <p:sp>
        <p:nvSpPr>
          <p:cNvPr id="7" name="Rounded Rectangle 6"/>
          <p:cNvSpPr/>
          <p:nvPr/>
        </p:nvSpPr>
        <p:spPr>
          <a:xfrm>
            <a:off x="6217920" y="1645920"/>
            <a:ext cx="2468880" cy="4389120"/>
          </a:xfrm>
          <a:prstGeom prst="roundRect">
            <a:avLst/>
          </a:prstGeom>
          <a:solidFill>
            <a:srgbClr val="BAE6FD"/>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FastMCP Protocol</a:t>
            </a:r>
          </a:p>
          <a:p>
            <a:pPr>
              <a:spcAft>
                <a:spcPts val="400"/>
              </a:spcAft>
              <a:defRPr sz="1200">
                <a:solidFill>
                  <a:srgbClr val="0F172A"/>
                </a:solidFill>
                <a:latin typeface="Arial"/>
              </a:defRPr>
            </a:pPr>
            <a:r>
              <a:t>• Anthropic Model Context Protocol standard.</a:t>
            </a:r>
          </a:p>
          <a:p>
            <a:pPr>
              <a:spcAft>
                <a:spcPts val="400"/>
              </a:spcAft>
              <a:defRPr sz="1200">
                <a:solidFill>
                  <a:srgbClr val="0F172A"/>
                </a:solidFill>
                <a:latin typeface="Arial"/>
              </a:defRPr>
            </a:pPr>
            <a:r>
              <a:t>• SSE and in-process execution.</a:t>
            </a:r>
          </a:p>
          <a:p>
            <a:pPr>
              <a:spcAft>
                <a:spcPts val="400"/>
              </a:spcAft>
              <a:defRPr sz="1200">
                <a:solidFill>
                  <a:srgbClr val="0F172A"/>
                </a:solidFill>
                <a:latin typeface="Arial"/>
              </a:defRPr>
            </a:pPr>
            <a:r>
              <a:t>• Strict path traversal validation.</a:t>
            </a:r>
          </a:p>
          <a:p>
            <a:pPr>
              <a:spcAft>
                <a:spcPts val="400"/>
              </a:spcAft>
              <a:defRPr sz="1200">
                <a:solidFill>
                  <a:srgbClr val="0F172A"/>
                </a:solidFill>
                <a:latin typeface="Arial"/>
              </a:defRPr>
            </a:pPr>
            <a:r>
              <a:t>• Sandboxed file &amp; git operations.</a:t>
            </a:r>
          </a:p>
        </p:txBody>
      </p:sp>
      <p:sp>
        <p:nvSpPr>
          <p:cNvPr id="8" name="Rounded Rectangle 7"/>
          <p:cNvSpPr/>
          <p:nvPr/>
        </p:nvSpPr>
        <p:spPr>
          <a:xfrm>
            <a:off x="8961120" y="1645920"/>
            <a:ext cx="2468880" cy="4389120"/>
          </a:xfrm>
          <a:prstGeom prst="roundRect">
            <a:avLst/>
          </a:prstGeom>
          <a:solidFill>
            <a:srgbClr val="FDE68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Neo-Brutalist HUD</a:t>
            </a:r>
          </a:p>
          <a:p>
            <a:pPr>
              <a:spcAft>
                <a:spcPts val="400"/>
              </a:spcAft>
              <a:defRPr sz="1200">
                <a:solidFill>
                  <a:srgbClr val="0F172A"/>
                </a:solidFill>
                <a:latin typeface="Arial"/>
              </a:defRPr>
            </a:pPr>
            <a:r>
              <a:t>• Streamlit frontend.</a:t>
            </a:r>
          </a:p>
          <a:p>
            <a:pPr>
              <a:spcAft>
                <a:spcPts val="400"/>
              </a:spcAft>
              <a:defRPr sz="1200">
                <a:solidFill>
                  <a:srgbClr val="0F172A"/>
                </a:solidFill>
                <a:latin typeface="Arial"/>
              </a:defRPr>
            </a:pPr>
            <a:r>
              <a:t>• Dark &amp; Light mode support.</a:t>
            </a:r>
          </a:p>
          <a:p>
            <a:pPr>
              <a:spcAft>
                <a:spcPts val="400"/>
              </a:spcAft>
              <a:defRPr sz="1200">
                <a:solidFill>
                  <a:srgbClr val="0F172A"/>
                </a:solidFill>
                <a:latin typeface="Arial"/>
              </a:defRPr>
            </a:pPr>
            <a:r>
              <a:t>• Real-time telemetry pills.</a:t>
            </a:r>
          </a:p>
          <a:p>
            <a:pPr>
              <a:spcAft>
                <a:spcPts val="400"/>
              </a:spcAft>
              <a:defRPr sz="1200">
                <a:solidFill>
                  <a:srgbClr val="0F172A"/>
                </a:solidFill>
                <a:latin typeface="Arial"/>
              </a:defRPr>
            </a:pPr>
            <a:r>
              <a:t>• Git commit audit log viewer.</a:t>
            </a:r>
          </a:p>
          <a:p>
            <a:pPr>
              <a:spcAft>
                <a:spcPts val="400"/>
              </a:spcAft>
              <a:defRPr sz="1200">
                <a:solidFill>
                  <a:srgbClr val="0F172A"/>
                </a:solidFill>
                <a:latin typeface="Arial"/>
              </a:defRPr>
            </a:pPr>
            <a:r>
              <a:t>• Containerized with Docker.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IMPACT // COMPLIANCE</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Business Value &amp; Enterprise ROI</a:t>
            </a:r>
          </a:p>
        </p:txBody>
      </p:sp>
      <p:sp>
        <p:nvSpPr>
          <p:cNvPr id="5" name="Rounded Rectangle 4"/>
          <p:cNvSpPr/>
          <p:nvPr/>
        </p:nvSpPr>
        <p:spPr>
          <a:xfrm>
            <a:off x="731520" y="1645920"/>
            <a:ext cx="5120640" cy="2103120"/>
          </a:xfrm>
          <a:prstGeom prst="roundRect">
            <a:avLst/>
          </a:prstGeom>
          <a:solidFill>
            <a:srgbClr val="FECAC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Eliminate Supply Chain Poisoning</a:t>
            </a:r>
          </a:p>
          <a:p>
            <a:pPr>
              <a:spcAft>
                <a:spcPts val="400"/>
              </a:spcAft>
              <a:defRPr sz="1200">
                <a:solidFill>
                  <a:srgbClr val="0F172A"/>
                </a:solidFill>
                <a:latin typeface="Arial"/>
              </a:defRPr>
            </a:pPr>
            <a:r>
              <a:t>• Stops rogue agents from committing backdoors or deleting production repos.</a:t>
            </a:r>
          </a:p>
          <a:p>
            <a:pPr>
              <a:spcAft>
                <a:spcPts val="400"/>
              </a:spcAft>
              <a:defRPr sz="1200">
                <a:solidFill>
                  <a:srgbClr val="0F172A"/>
                </a:solidFill>
                <a:latin typeface="Arial"/>
              </a:defRPr>
            </a:pPr>
            <a:r>
              <a:t>• Zero-trust default-deny blocks all unauthorized actions.</a:t>
            </a:r>
          </a:p>
        </p:txBody>
      </p:sp>
      <p:sp>
        <p:nvSpPr>
          <p:cNvPr id="6" name="Rounded Rectangle 5"/>
          <p:cNvSpPr/>
          <p:nvPr/>
        </p:nvSpPr>
        <p:spPr>
          <a:xfrm>
            <a:off x="6217920" y="1645920"/>
            <a:ext cx="5120640" cy="2103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10x Engineering Velocity</a:t>
            </a:r>
          </a:p>
          <a:p>
            <a:pPr>
              <a:spcAft>
                <a:spcPts val="400"/>
              </a:spcAft>
              <a:defRPr sz="1200">
                <a:solidFill>
                  <a:srgbClr val="0F172A"/>
                </a:solidFill>
                <a:latin typeface="Arial"/>
              </a:defRPr>
            </a:pPr>
            <a:r>
              <a:t>• Allows safe unattended bug fixing: agents can safely analyze flaws, commit fixes, and open PRs.</a:t>
            </a:r>
          </a:p>
          <a:p>
            <a:pPr>
              <a:spcAft>
                <a:spcPts val="400"/>
              </a:spcAft>
              <a:defRPr sz="1200">
                <a:solidFill>
                  <a:srgbClr val="0F172A"/>
                </a:solidFill>
                <a:latin typeface="Arial"/>
              </a:defRPr>
            </a:pPr>
            <a:r>
              <a:t>• Removes manual security bottlenecks.</a:t>
            </a:r>
          </a:p>
        </p:txBody>
      </p:sp>
      <p:sp>
        <p:nvSpPr>
          <p:cNvPr id="7" name="Rounded Rectangle 6"/>
          <p:cNvSpPr/>
          <p:nvPr/>
        </p:nvSpPr>
        <p:spPr>
          <a:xfrm>
            <a:off x="731520" y="4023360"/>
            <a:ext cx="5120640" cy="2103120"/>
          </a:xfrm>
          <a:prstGeom prst="roundRect">
            <a:avLst/>
          </a:prstGeom>
          <a:solidFill>
            <a:srgbClr val="FDE68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Instant Compliance Audit Trail</a:t>
            </a:r>
          </a:p>
          <a:p>
            <a:pPr>
              <a:spcAft>
                <a:spcPts val="400"/>
              </a:spcAft>
              <a:defRPr sz="1200">
                <a:solidFill>
                  <a:srgbClr val="0F172A"/>
                </a:solidFill>
                <a:latin typeface="Arial"/>
              </a:defRPr>
            </a:pPr>
            <a:r>
              <a:t>• Every decision, token, and tool verdict is logged with SHA-256 hashes.</a:t>
            </a:r>
          </a:p>
          <a:p>
            <a:pPr>
              <a:spcAft>
                <a:spcPts val="400"/>
              </a:spcAft>
              <a:defRPr sz="1200">
                <a:solidFill>
                  <a:srgbClr val="0F172A"/>
                </a:solidFill>
                <a:latin typeface="Arial"/>
              </a:defRPr>
            </a:pPr>
            <a:r>
              <a:t>• Fulfills SOC2 Type II, ISO 27001, and HIPAA compliance mandates.</a:t>
            </a:r>
          </a:p>
        </p:txBody>
      </p:sp>
      <p:sp>
        <p:nvSpPr>
          <p:cNvPr id="8" name="Rounded Rectangle 7"/>
          <p:cNvSpPr/>
          <p:nvPr/>
        </p:nvSpPr>
        <p:spPr>
          <a:xfrm>
            <a:off x="6217920" y="4023360"/>
            <a:ext cx="5120640" cy="2103120"/>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Executive Alignment (CTO + CISO)</a:t>
            </a:r>
          </a:p>
          <a:p>
            <a:pPr>
              <a:spcAft>
                <a:spcPts val="400"/>
              </a:spcAft>
              <a:defRPr sz="1200">
                <a:solidFill>
                  <a:srgbClr val="0F172A"/>
                </a:solidFill>
                <a:latin typeface="Arial"/>
              </a:defRPr>
            </a:pPr>
            <a:r>
              <a:t>• CTOs gain the productivity of autonomous AI coding agents.</a:t>
            </a:r>
          </a:p>
          <a:p>
            <a:pPr>
              <a:spcAft>
                <a:spcPts val="400"/>
              </a:spcAft>
              <a:defRPr sz="1200">
                <a:solidFill>
                  <a:srgbClr val="0F172A"/>
                </a:solidFill>
                <a:latin typeface="Arial"/>
              </a:defRPr>
            </a:pPr>
            <a:r>
              <a:t>• CISOs get deterministic cryptographic boundary control.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LIVE WALKTHROUGH SEQUENCE</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2-Minute Hackathon Demonstration Playbook</a:t>
            </a:r>
          </a:p>
        </p:txBody>
      </p:sp>
      <p:sp>
        <p:nvSpPr>
          <p:cNvPr id="5" name="Rounded Rectangle 4"/>
          <p:cNvSpPr/>
          <p:nvPr/>
        </p:nvSpPr>
        <p:spPr>
          <a:xfrm>
            <a:off x="731520" y="1645920"/>
            <a:ext cx="10698480" cy="438912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Step-by-Step Judge Walkthrough</a:t>
            </a:r>
          </a:p>
          <a:p>
            <a:pPr>
              <a:spcAft>
                <a:spcPts val="400"/>
              </a:spcAft>
              <a:defRPr sz="1200">
                <a:solidFill>
                  <a:srgbClr val="0F172A"/>
                </a:solidFill>
                <a:latin typeface="Arial"/>
              </a:defRPr>
            </a:pPr>
            <a:r>
              <a:t>• Step 01 // HUD Overview: Show live status pills (GATEKEEPER: ACTIVE, CSRG-IAP: INTENT-BOUND).</a:t>
            </a:r>
          </a:p>
          <a:p>
            <a:pPr>
              <a:spcAft>
                <a:spcPts val="400"/>
              </a:spcAft>
              <a:defRPr sz="1200">
                <a:solidFill>
                  <a:srgbClr val="0F172A"/>
                </a:solidFill>
                <a:latin typeface="Arial"/>
              </a:defRPr>
            </a:pPr>
            <a:r>
              <a:t>• Step 02 // Attack Attempt: Click 'Load Vector 02 // Tamper' (directive to overwrite deploy.yml &amp; delete repo).</a:t>
            </a:r>
          </a:p>
          <a:p>
            <a:pPr>
              <a:spcAft>
                <a:spcPts val="400"/>
              </a:spcAft>
              <a:defRPr sz="1200">
                <a:solidFill>
                  <a:srgbClr val="0F172A"/>
                </a:solidFill>
                <a:latin typeface="Arial"/>
              </a:defRPr>
            </a:pPr>
            <a:r>
              <a:t>• Step 03 // Real-Time Intercept: Click 'Execute Directive'. Show judges the red BLOCKED verdict in 15ms!</a:t>
            </a:r>
          </a:p>
          <a:p>
            <a:pPr>
              <a:spcAft>
                <a:spcPts val="400"/>
              </a:spcAft>
              <a:defRPr sz="1200">
                <a:solidFill>
                  <a:srgbClr val="0F172A"/>
                </a:solidFill>
                <a:latin typeface="Arial"/>
              </a:defRPr>
            </a:pPr>
            <a:r>
              <a:t>• Step 04 // Indirect Injection: Click 'Load Vector 03 // Hijack'. Agent reads external PR note with hidden SYSTEM OVERRIDE.</a:t>
            </a:r>
          </a:p>
          <a:p>
            <a:pPr>
              <a:spcAft>
                <a:spcPts val="400"/>
              </a:spcAft>
              <a:defRPr sz="1200">
                <a:solidFill>
                  <a:srgbClr val="0F172A"/>
                </a:solidFill>
                <a:latin typeface="Arial"/>
              </a:defRPr>
            </a:pPr>
            <a:r>
              <a:t>• Step 05 // Merkle Proof Quarantine: Show the PURPLE HIJACK BADGE intercepted by ArmorIQ intent mismatch.</a:t>
            </a:r>
          </a:p>
          <a:p>
            <a:pPr>
              <a:spcAft>
                <a:spcPts val="400"/>
              </a:spcAft>
              <a:defRPr sz="1200">
                <a:solidFill>
                  <a:srgbClr val="0F172A"/>
                </a:solidFill>
                <a:latin typeface="Arial"/>
              </a:defRPr>
            </a:pPr>
            <a:r>
              <a:t>• Step 06 // Safe Remediation: Click 'Load Vector 04 // Commit'. Agent analyzes SQL flaw and safely commits patch.</a:t>
            </a:r>
          </a:p>
          <a:p>
            <a:pPr>
              <a:spcAft>
                <a:spcPts val="400"/>
              </a:spcAft>
              <a:defRPr sz="1200">
                <a:solidFill>
                  <a:srgbClr val="0F172A"/>
                </a:solidFill>
                <a:latin typeface="Arial"/>
              </a:defRPr>
            </a:pPr>
            <a:r>
              <a:t>• Step 07 // Git Proof: Expand 'Git Commit Log' to inspect the verified commit and Pull Request link.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FUTURE VISION // EXPANSION</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Product Roadmap: From Repository to Swarm Defense</a:t>
            </a:r>
          </a:p>
        </p:txBody>
      </p:sp>
      <p:sp>
        <p:nvSpPr>
          <p:cNvPr id="5" name="Rounded Rectangle 4"/>
          <p:cNvSpPr/>
          <p:nvPr/>
        </p:nvSpPr>
        <p:spPr>
          <a:xfrm>
            <a:off x="731520" y="1645920"/>
            <a:ext cx="5120640" cy="2103120"/>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Q1: Multi-Provider MCP Proxy</a:t>
            </a:r>
          </a:p>
          <a:p>
            <a:pPr>
              <a:spcAft>
                <a:spcPts val="400"/>
              </a:spcAft>
              <a:defRPr sz="1200">
                <a:solidFill>
                  <a:srgbClr val="0F172A"/>
                </a:solidFill>
                <a:latin typeface="Arial"/>
              </a:defRPr>
            </a:pPr>
            <a:r>
              <a:t>• Native protocol support for Anthropic Claude 3.7, OpenAI Swarm, and AWS Bedrock tools.</a:t>
            </a:r>
          </a:p>
          <a:p>
            <a:pPr>
              <a:spcAft>
                <a:spcPts val="400"/>
              </a:spcAft>
              <a:defRPr sz="1200">
                <a:solidFill>
                  <a:srgbClr val="0F172A"/>
                </a:solidFill>
                <a:latin typeface="Arial"/>
              </a:defRPr>
            </a:pPr>
            <a:r>
              <a:t>• Universal reverse-proxy for enterprise MCP deployments.</a:t>
            </a:r>
          </a:p>
        </p:txBody>
      </p:sp>
      <p:sp>
        <p:nvSpPr>
          <p:cNvPr id="6" name="Rounded Rectangle 5"/>
          <p:cNvSpPr/>
          <p:nvPr/>
        </p:nvSpPr>
        <p:spPr>
          <a:xfrm>
            <a:off x="6217920" y="1645920"/>
            <a:ext cx="5120640" cy="2103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Q2: Agent-to-Agent Mesh Security</a:t>
            </a:r>
          </a:p>
          <a:p>
            <a:pPr>
              <a:spcAft>
                <a:spcPts val="400"/>
              </a:spcAft>
              <a:defRPr sz="1200">
                <a:solidFill>
                  <a:srgbClr val="0F172A"/>
                </a:solidFill>
                <a:latin typeface="Arial"/>
              </a:defRPr>
            </a:pPr>
            <a:r>
              <a:t>• Cryptographic intent delegation between cooperating agents in multi-agent swarms.</a:t>
            </a:r>
          </a:p>
          <a:p>
            <a:pPr>
              <a:spcAft>
                <a:spcPts val="400"/>
              </a:spcAft>
              <a:defRPr sz="1200">
                <a:solidFill>
                  <a:srgbClr val="0F172A"/>
                </a:solidFill>
                <a:latin typeface="Arial"/>
              </a:defRPr>
            </a:pPr>
            <a:r>
              <a:t>• Mutual TLS and verifiable identity for autonomous agent chains.</a:t>
            </a:r>
          </a:p>
        </p:txBody>
      </p:sp>
      <p:sp>
        <p:nvSpPr>
          <p:cNvPr id="7" name="Rounded Rectangle 6"/>
          <p:cNvSpPr/>
          <p:nvPr/>
        </p:nvSpPr>
        <p:spPr>
          <a:xfrm>
            <a:off x="731520" y="4023360"/>
            <a:ext cx="5120640" cy="2103120"/>
          </a:xfrm>
          <a:prstGeom prst="roundRect">
            <a:avLst/>
          </a:prstGeom>
          <a:solidFill>
            <a:srgbClr val="FDE68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Q3: Autonomous Honeytokens</a:t>
            </a:r>
          </a:p>
          <a:p>
            <a:pPr>
              <a:spcAft>
                <a:spcPts val="400"/>
              </a:spcAft>
              <a:defRPr sz="1200">
                <a:solidFill>
                  <a:srgbClr val="0F172A"/>
                </a:solidFill>
                <a:latin typeface="Arial"/>
              </a:defRPr>
            </a:pPr>
            <a:r>
              <a:t>• Dynamic injection of synthetic API keys and decoy CI/CD workflows.</a:t>
            </a:r>
          </a:p>
          <a:p>
            <a:pPr>
              <a:spcAft>
                <a:spcPts val="400"/>
              </a:spcAft>
              <a:defRPr sz="1200">
                <a:solidFill>
                  <a:srgbClr val="0F172A"/>
                </a:solidFill>
                <a:latin typeface="Arial"/>
              </a:defRPr>
            </a:pPr>
            <a:r>
              <a:t>• Traps rogue agent reconnaissance before any production assets are queried.</a:t>
            </a:r>
          </a:p>
        </p:txBody>
      </p:sp>
      <p:sp>
        <p:nvSpPr>
          <p:cNvPr id="8" name="Rounded Rectangle 7"/>
          <p:cNvSpPr/>
          <p:nvPr/>
        </p:nvSpPr>
        <p:spPr>
          <a:xfrm>
            <a:off x="6217920" y="4023360"/>
            <a:ext cx="5120640" cy="2103120"/>
          </a:xfrm>
          <a:prstGeom prst="roundRect">
            <a:avLst/>
          </a:prstGeom>
          <a:solidFill>
            <a:srgbClr val="BAE6FD"/>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Q4: Native IDE Sidecar Extension</a:t>
            </a:r>
          </a:p>
          <a:p>
            <a:pPr>
              <a:spcAft>
                <a:spcPts val="400"/>
              </a:spcAft>
              <a:defRPr sz="1200">
                <a:solidFill>
                  <a:srgbClr val="0F172A"/>
                </a:solidFill>
                <a:latin typeface="Arial"/>
              </a:defRPr>
            </a:pPr>
            <a:r>
              <a:t>• VS Code, Cursor, and JetBrains plugins providing real-time firewall telemetry.</a:t>
            </a:r>
          </a:p>
          <a:p>
            <a:pPr>
              <a:spcAft>
                <a:spcPts val="400"/>
              </a:spcAft>
              <a:defRPr sz="1200">
                <a:solidFill>
                  <a:srgbClr val="0F172A"/>
                </a:solidFill>
                <a:latin typeface="Arial"/>
              </a:defRPr>
            </a:pPr>
            <a:r>
              <a:t>• Inline security alerts directly in the developer's editor.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COMPETITIVE MOAT // KEY ADVANTAGES</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Why HYDRA Wins the Category</a:t>
            </a:r>
          </a:p>
        </p:txBody>
      </p:sp>
      <p:sp>
        <p:nvSpPr>
          <p:cNvPr id="5" name="Rounded Rectangle 4"/>
          <p:cNvSpPr/>
          <p:nvPr/>
        </p:nvSpPr>
        <p:spPr>
          <a:xfrm>
            <a:off x="731520" y="1645920"/>
            <a:ext cx="5120640" cy="2103120"/>
          </a:xfrm>
          <a:prstGeom prst="roundRect">
            <a:avLst/>
          </a:prstGeom>
          <a:solidFill>
            <a:srgbClr val="A7F3D0"/>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1. Cryptographic Math, Not Prompting</a:t>
            </a:r>
          </a:p>
          <a:p>
            <a:pPr>
              <a:spcAft>
                <a:spcPts val="400"/>
              </a:spcAft>
              <a:defRPr sz="1200">
                <a:solidFill>
                  <a:srgbClr val="0F172A"/>
                </a:solidFill>
                <a:latin typeface="Arial"/>
              </a:defRPr>
            </a:pPr>
            <a:r>
              <a:t>• First firewall combining Gemini cognitive graphs with ArmorIQ Merkle proofs.</a:t>
            </a:r>
          </a:p>
          <a:p>
            <a:pPr>
              <a:spcAft>
                <a:spcPts val="400"/>
              </a:spcAft>
              <a:defRPr sz="1200">
                <a:solidFill>
                  <a:srgbClr val="0F172A"/>
                </a:solidFill>
                <a:latin typeface="Arial"/>
              </a:defRPr>
            </a:pPr>
            <a:r>
              <a:t>• Deterministic security guarantees that cannot be bypassed by clever jailbreaks.</a:t>
            </a:r>
          </a:p>
        </p:txBody>
      </p:sp>
      <p:sp>
        <p:nvSpPr>
          <p:cNvPr id="6" name="Rounded Rectangle 5"/>
          <p:cNvSpPr/>
          <p:nvPr/>
        </p:nvSpPr>
        <p:spPr>
          <a:xfrm>
            <a:off x="6217920" y="1645920"/>
            <a:ext cx="5120640" cy="2103120"/>
          </a:xfrm>
          <a:prstGeom prst="roundRect">
            <a:avLst/>
          </a:prstGeom>
          <a:solidFill>
            <a:srgbClr val="FDE68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2. Sub-15ms Real-Time Enforcement</a:t>
            </a:r>
          </a:p>
          <a:p>
            <a:pPr>
              <a:spcAft>
                <a:spcPts val="400"/>
              </a:spcAft>
              <a:defRPr sz="1200">
                <a:solidFill>
                  <a:srgbClr val="0F172A"/>
                </a:solidFill>
                <a:latin typeface="Arial"/>
              </a:defRPr>
            </a:pPr>
            <a:r>
              <a:t>• Zero latency bottleneck for autonomous developer workflows.</a:t>
            </a:r>
          </a:p>
          <a:p>
            <a:pPr>
              <a:spcAft>
                <a:spcPts val="400"/>
              </a:spcAft>
              <a:defRPr sz="1200">
                <a:solidFill>
                  <a:srgbClr val="0F172A"/>
                </a:solidFill>
                <a:latin typeface="Arial"/>
              </a:defRPr>
            </a:pPr>
            <a:r>
              <a:t>• Pre-execution gatekeeping stops damage before code touches disk.</a:t>
            </a:r>
          </a:p>
        </p:txBody>
      </p:sp>
      <p:sp>
        <p:nvSpPr>
          <p:cNvPr id="7" name="Rounded Rectangle 6"/>
          <p:cNvSpPr/>
          <p:nvPr/>
        </p:nvSpPr>
        <p:spPr>
          <a:xfrm>
            <a:off x="731520" y="4023360"/>
            <a:ext cx="5120640" cy="2103120"/>
          </a:xfrm>
          <a:prstGeom prst="roundRect">
            <a:avLst/>
          </a:prstGeom>
          <a:solidFill>
            <a:srgbClr val="FECACA"/>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3. Zero-Trust Default-Deny</a:t>
            </a:r>
          </a:p>
          <a:p>
            <a:pPr>
              <a:spcAft>
                <a:spcPts val="400"/>
              </a:spcAft>
              <a:defRPr sz="1200">
                <a:solidFill>
                  <a:srgbClr val="0F172A"/>
                </a:solidFill>
                <a:latin typeface="Arial"/>
              </a:defRPr>
            </a:pPr>
            <a:r>
              <a:t>• Unrecognized tools and unauthorized branches are hard-blocked by policy.</a:t>
            </a:r>
          </a:p>
          <a:p>
            <a:pPr>
              <a:spcAft>
                <a:spcPts val="400"/>
              </a:spcAft>
              <a:defRPr sz="1200">
                <a:solidFill>
                  <a:srgbClr val="0F172A"/>
                </a:solidFill>
                <a:latin typeface="Arial"/>
              </a:defRPr>
            </a:pPr>
            <a:r>
              <a:t>• Strict branch protection preserves main/prod repository integrity.</a:t>
            </a:r>
          </a:p>
        </p:txBody>
      </p:sp>
      <p:sp>
        <p:nvSpPr>
          <p:cNvPr id="8" name="Rounded Rectangle 7"/>
          <p:cNvSpPr/>
          <p:nvPr/>
        </p:nvSpPr>
        <p:spPr>
          <a:xfrm>
            <a:off x="6217920" y="4023360"/>
            <a:ext cx="5120640" cy="2103120"/>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4. Production-Ready Developer UX</a:t>
            </a:r>
          </a:p>
          <a:p>
            <a:pPr>
              <a:spcAft>
                <a:spcPts val="400"/>
              </a:spcAft>
              <a:defRPr sz="1200">
                <a:solidFill>
                  <a:srgbClr val="0F172A"/>
                </a:solidFill>
                <a:latin typeface="Arial"/>
              </a:defRPr>
            </a:pPr>
            <a:r>
              <a:t>• High-contrast Neo-Brutalist HUD with Dark &amp; Light modes.</a:t>
            </a:r>
          </a:p>
          <a:p>
            <a:pPr>
              <a:spcAft>
                <a:spcPts val="400"/>
              </a:spcAft>
              <a:defRPr sz="1200">
                <a:solidFill>
                  <a:srgbClr val="0F172A"/>
                </a:solidFill>
                <a:latin typeface="Arial"/>
              </a:defRPr>
            </a:pPr>
            <a:r>
              <a:t>• Live external GitHub connectivity, file inspection, and PR generation.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84048"/>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Courier New"/>
              </a:defRPr>
            </a:pPr>
            <a:r>
              <a:t>CONCLUSION // Q &amp; A</a:t>
            </a:r>
          </a:p>
        </p:txBody>
      </p:sp>
      <p:sp>
        <p:nvSpPr>
          <p:cNvPr id="4" name="TextBox 3"/>
          <p:cNvSpPr txBox="1"/>
          <p:nvPr/>
        </p:nvSpPr>
        <p:spPr>
          <a:xfrm>
            <a:off x="731520" y="914400"/>
            <a:ext cx="10698480" cy="731520"/>
          </a:xfrm>
          <a:prstGeom prst="rect">
            <a:avLst/>
          </a:prstGeom>
          <a:noFill/>
        </p:spPr>
        <p:txBody>
          <a:bodyPr wrap="none">
            <a:spAutoFit/>
          </a:bodyPr>
          <a:lstStyle/>
          <a:p>
            <a:pPr>
              <a:defRPr sz="2600" b="1">
                <a:solidFill>
                  <a:srgbClr val="0F172A"/>
                </a:solidFill>
                <a:latin typeface="Arial"/>
              </a:defRPr>
            </a:pPr>
            <a:r>
              <a:t>Secure the Future of Autonomous DevSecOps</a:t>
            </a:r>
          </a:p>
        </p:txBody>
      </p:sp>
      <p:sp>
        <p:nvSpPr>
          <p:cNvPr id="5" name="Rounded Rectangle 4"/>
          <p:cNvSpPr/>
          <p:nvPr/>
        </p:nvSpPr>
        <p:spPr>
          <a:xfrm>
            <a:off x="731520" y="1645920"/>
            <a:ext cx="5120640" cy="438912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Live Project Resources</a:t>
            </a:r>
          </a:p>
          <a:p>
            <a:pPr>
              <a:spcAft>
                <a:spcPts val="400"/>
              </a:spcAft>
              <a:defRPr sz="1200">
                <a:solidFill>
                  <a:srgbClr val="0F172A"/>
                </a:solidFill>
                <a:latin typeface="Arial"/>
              </a:defRPr>
            </a:pPr>
            <a:r>
              <a:t>• GitHub Repository: https://github.com/akash1458-gg/Hydra</a:t>
            </a:r>
          </a:p>
          <a:p>
            <a:pPr>
              <a:spcAft>
                <a:spcPts val="400"/>
              </a:spcAft>
              <a:defRPr sz="1200">
                <a:solidFill>
                  <a:srgbClr val="0F172A"/>
                </a:solidFill>
                <a:latin typeface="Arial"/>
              </a:defRPr>
            </a:pPr>
            <a:r>
              <a:t>• Live Dashboard: Deployed on Streamlit Cloud</a:t>
            </a:r>
          </a:p>
          <a:p>
            <a:pPr>
              <a:spcAft>
                <a:spcPts val="400"/>
              </a:spcAft>
              <a:defRPr sz="1200">
                <a:solidFill>
                  <a:srgbClr val="0F172A"/>
                </a:solidFill>
                <a:latin typeface="Arial"/>
              </a:defRPr>
            </a:pPr>
            <a:r>
              <a:t>• License: Enterprise Open Source (Apache 2.0)</a:t>
            </a:r>
          </a:p>
          <a:p>
            <a:pPr>
              <a:spcAft>
                <a:spcPts val="400"/>
              </a:spcAft>
              <a:defRPr sz="1200">
                <a:solidFill>
                  <a:srgbClr val="0F172A"/>
                </a:solidFill>
                <a:latin typeface="Arial"/>
              </a:defRPr>
            </a:pPr>
            <a:r>
              <a:t>• Documentation: Full quickstart, Docker setup, and API specifications included.</a:t>
            </a:r>
          </a:p>
          <a:p>
            <a:pPr>
              <a:spcAft>
                <a:spcPts val="400"/>
              </a:spcAft>
              <a:defRPr sz="1200">
                <a:solidFill>
                  <a:srgbClr val="0F172A"/>
                </a:solidFill>
                <a:latin typeface="Arial"/>
              </a:defRPr>
            </a:pPr>
            <a:r>
              <a:t>• Testing: 100% test pass rate across all 4 enforcement attack vectors.</a:t>
            </a:r>
          </a:p>
        </p:txBody>
      </p:sp>
      <p:sp>
        <p:nvSpPr>
          <p:cNvPr id="6" name="Rounded Rectangle 5"/>
          <p:cNvSpPr/>
          <p:nvPr/>
        </p:nvSpPr>
        <p:spPr>
          <a:xfrm>
            <a:off x="6217920" y="1645920"/>
            <a:ext cx="5120640" cy="4389120"/>
          </a:xfrm>
          <a:prstGeom prst="roundRect">
            <a:avLst/>
          </a:prstGeom>
          <a:solidFill>
            <a:srgbClr val="DDD6FE"/>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500" b="1">
                <a:solidFill>
                  <a:srgbClr val="0F172A"/>
                </a:solidFill>
                <a:latin typeface="Arial"/>
              </a:defRPr>
            </a:pPr>
            <a:r>
              <a:t>Questions &amp; Live Attack Testing</a:t>
            </a:r>
          </a:p>
          <a:p>
            <a:pPr>
              <a:spcAft>
                <a:spcPts val="400"/>
              </a:spcAft>
              <a:defRPr sz="1200">
                <a:solidFill>
                  <a:srgbClr val="0F172A"/>
                </a:solidFill>
                <a:latin typeface="Arial"/>
              </a:defRPr>
            </a:pPr>
            <a:r>
              <a:t>• We are ready to take your questions!</a:t>
            </a:r>
          </a:p>
          <a:p>
            <a:pPr>
              <a:spcAft>
                <a:spcPts val="400"/>
              </a:spcAft>
              <a:defRPr sz="1200">
                <a:solidFill>
                  <a:srgbClr val="0F172A"/>
                </a:solidFill>
                <a:latin typeface="Arial"/>
              </a:defRPr>
            </a:pPr>
            <a:r>
              <a:t>• Live Scenario Requests: Ask us to run custom prompts or attack vectors live on stage.</a:t>
            </a:r>
          </a:p>
          <a:p>
            <a:pPr>
              <a:spcAft>
                <a:spcPts val="400"/>
              </a:spcAft>
              <a:defRPr sz="1200">
                <a:solidFill>
                  <a:srgbClr val="0F172A"/>
                </a:solidFill>
                <a:latin typeface="Arial"/>
              </a:defRPr>
            </a:pPr>
            <a:r>
              <a:t>• Ask about:</a:t>
            </a:r>
          </a:p>
          <a:p>
            <a:pPr>
              <a:spcAft>
                <a:spcPts val="400"/>
              </a:spcAft>
              <a:defRPr sz="1200">
                <a:solidFill>
                  <a:srgbClr val="0F172A"/>
                </a:solidFill>
                <a:latin typeface="Arial"/>
              </a:defRPr>
            </a:pPr>
            <a:r>
              <a:t>•   • Cryptographic Merkle intent tokens</a:t>
            </a:r>
          </a:p>
          <a:p>
            <a:pPr>
              <a:spcAft>
                <a:spcPts val="400"/>
              </a:spcAft>
              <a:defRPr sz="1200">
                <a:solidFill>
                  <a:srgbClr val="0F172A"/>
                </a:solidFill>
                <a:latin typeface="Arial"/>
              </a:defRPr>
            </a:pPr>
            <a:r>
              <a:t>•   • Indirect prompt injection defense</a:t>
            </a:r>
          </a:p>
          <a:p>
            <a:pPr>
              <a:spcAft>
                <a:spcPts val="400"/>
              </a:spcAft>
              <a:defRPr sz="1200">
                <a:solidFill>
                  <a:srgbClr val="0F172A"/>
                </a:solidFill>
                <a:latin typeface="Arial"/>
              </a:defRPr>
            </a:pPr>
            <a:r>
              <a:t>•   • Connecting custom private GitHub repositories</a:t>
            </a:r>
          </a:p>
          <a:p>
            <a:pPr>
              <a:spcAft>
                <a:spcPts val="400"/>
              </a:spcAft>
              <a:defRPr sz="1200">
                <a:solidFill>
                  <a:srgbClr val="0F172A"/>
                </a:solidFill>
                <a:latin typeface="Arial"/>
              </a:defRPr>
            </a:pPr>
            <a:r>
              <a:t>• Thank you for your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